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080" y="243841"/>
            <a:ext cx="11721587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691" y="882376"/>
            <a:ext cx="9964364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198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085" y="3869635"/>
            <a:ext cx="8765577" cy="1388165"/>
          </a:xfrm>
        </p:spPr>
        <p:txBody>
          <a:bodyPr>
            <a:normAutofit/>
          </a:bodyPr>
          <a:lstStyle>
            <a:lvl1pPr marL="0" indent="0" algn="ctr">
              <a:buNone/>
              <a:defRPr sz="2199">
                <a:solidFill>
                  <a:srgbClr val="FFFFFF"/>
                </a:solidFill>
              </a:defRPr>
            </a:lvl1pPr>
            <a:lvl2pPr marL="457063" indent="0" algn="ctr">
              <a:buNone/>
              <a:defRPr sz="2199"/>
            </a:lvl2pPr>
            <a:lvl3pPr marL="914126" indent="0" algn="ctr">
              <a:buNone/>
              <a:defRPr sz="2199"/>
            </a:lvl3pPr>
            <a:lvl4pPr marL="1371189" indent="0" algn="ctr">
              <a:buNone/>
              <a:defRPr sz="1999"/>
            </a:lvl4pPr>
            <a:lvl5pPr marL="1828251" indent="0" algn="ctr">
              <a:buNone/>
              <a:defRPr sz="1999"/>
            </a:lvl5pPr>
            <a:lvl6pPr marL="2285314" indent="0" algn="ctr">
              <a:buNone/>
              <a:defRPr sz="1999"/>
            </a:lvl6pPr>
            <a:lvl7pPr marL="2742377" indent="0" algn="ctr">
              <a:buNone/>
              <a:defRPr sz="1999"/>
            </a:lvl7pPr>
            <a:lvl8pPr marL="3199440" indent="0" algn="ctr">
              <a:buNone/>
              <a:defRPr sz="1999"/>
            </a:lvl8pPr>
            <a:lvl9pPr marL="3656503" indent="0" algn="ctr">
              <a:buNone/>
              <a:defRPr sz="19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145" y="3733800"/>
            <a:ext cx="8227458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905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88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136" y="1173575"/>
            <a:ext cx="9964364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198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483" y="4154520"/>
            <a:ext cx="876681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199">
                <a:solidFill>
                  <a:schemeClr val="accent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0684" y="4020408"/>
            <a:ext cx="822745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202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2702" y="2057399"/>
            <a:ext cx="4753642" cy="4023360"/>
          </a:xfrm>
        </p:spPr>
        <p:txBody>
          <a:bodyPr/>
          <a:lstStyle>
            <a:lvl1pPr>
              <a:defRPr sz="21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5980" y="2057400"/>
            <a:ext cx="4753642" cy="4023360"/>
          </a:xfrm>
        </p:spPr>
        <p:txBody>
          <a:bodyPr/>
          <a:lstStyle>
            <a:lvl1pPr>
              <a:defRPr sz="21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86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2702" y="2001511"/>
            <a:ext cx="4753642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2702" y="2721483"/>
            <a:ext cx="4753642" cy="3383280"/>
          </a:xfrm>
        </p:spPr>
        <p:txBody>
          <a:bodyPr/>
          <a:lstStyle>
            <a:lvl1pPr>
              <a:defRPr sz="21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7540" y="1999032"/>
            <a:ext cx="4753642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7540" y="2719322"/>
            <a:ext cx="4753642" cy="3383280"/>
          </a:xfrm>
        </p:spPr>
        <p:txBody>
          <a:bodyPr/>
          <a:lstStyle>
            <a:lvl1pPr>
              <a:defRPr sz="21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58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89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95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702" y="1097280"/>
            <a:ext cx="3930896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9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0635" y="1097280"/>
            <a:ext cx="5210723" cy="4663440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2702" y="2834640"/>
            <a:ext cx="3930896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6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85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702" y="1097280"/>
            <a:ext cx="3930896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9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1838" y="1069847"/>
            <a:ext cx="6097460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7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2702" y="2834640"/>
            <a:ext cx="3930896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6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68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298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762000"/>
            <a:ext cx="232349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2702" y="762000"/>
            <a:ext cx="742756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03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080" y="243841"/>
            <a:ext cx="11721587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2702" y="609600"/>
            <a:ext cx="9872948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2703" y="2057400"/>
            <a:ext cx="9870300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699" y="6223829"/>
            <a:ext cx="23284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8120" y="6223829"/>
            <a:ext cx="4716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7101" y="6223829"/>
            <a:ext cx="17057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531" indent="-182825" algn="l" defTabSz="914126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199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063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999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301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799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538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79776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59952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89943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19934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49925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C72"/>
            </a:gs>
            <a:gs pos="100000">
              <a:srgbClr val="667EE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4747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Culture OS – Thunai (துணை)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D700"/>
                </a:solidFill>
              </a:defRPr>
            </a:pPr>
            <a:r>
              <a:t>Next-Gen Team Intelligence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5669280"/>
            <a:ext cx="8531352" cy="914400"/>
          </a:xfrm>
          <a:prstGeom prst="roundRect">
            <a:avLst/>
          </a:prstGeom>
          <a:solidFill>
            <a:srgbClr val="FFEC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🤖 AI-Powered Team Engagement &amp; Workplace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C72"/>
            </a:gs>
            <a:gs pos="100000">
              <a:srgbClr val="667EE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Market Challenge &amp; Our Innovation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🚨 Current Challenges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• Disconnected Teams: Remote work fragmentation</a:t>
            </a:r>
            <a:br/>
            <a:r>
              <a:t>• Unpredictable Attendance: Lack of intent data</a:t>
            </a:r>
            <a:br/>
            <a:r>
              <a:t>• Missed Celebrations: Unnoticed team moments</a:t>
            </a:r>
            <a:br/>
            <a:r>
              <a:t>• Low Engagement: Traditional tools fail</a:t>
            </a:r>
            <a:br/>
            <a:r>
              <a:t>• Privacy Concerns: Data collection without consent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4ECDC4"/>
          </a:solidFill>
          <a:ln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✨ Thunai Solution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• AI-Powered Companion: Intelligent interactions</a:t>
            </a:r>
            <a:br/>
            <a:r>
              <a:t>• Direct Intent Collection: Real user preferences</a:t>
            </a:r>
            <a:br/>
            <a:r>
              <a:t>• Automated Moment Detection: Never miss celebrations</a:t>
            </a:r>
            <a:br/>
            <a:r>
              <a:t>• Seamless Integration: Native Teams experience</a:t>
            </a:r>
            <a:br/>
            <a:r>
              <a:t>• Privacy-First Design: Explicit consent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C72"/>
            </a:gs>
            <a:gs pos="100000">
              <a:srgbClr val="667EE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Meet Thunai: Your AI Team Companion 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228600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😊 Friendly &amp; Approachable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Warm, conversational AI that makes every team member feel welcome and valued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188720"/>
            <a:ext cx="3657600" cy="228600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🎉 Enthusiastic Celebrator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Brings positive energy and ensures no achievement goes unnoticed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188720"/>
            <a:ext cx="3657600" cy="228600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😏 Intelligently Witty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Perfect teammate balance - professional yet fun, engaging conversations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10360152" cy="1097280"/>
          </a:xfrm>
          <a:prstGeom prst="round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565C0"/>
                </a:solidFill>
              </a:defRPr>
            </a:pPr>
            <a:r>
              <a:t>🔒 Privacy-First Architecture</a:t>
            </a:r>
          </a:p>
          <a:p>
            <a:r>
              <a:t>Every interaction requires explicit user consent with comprehensive T&amp;C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029200"/>
            <a:ext cx="10360152" cy="914400"/>
          </a:xfrm>
          <a:prstGeom prst="roundRect">
            <a:avLst/>
          </a:prstGeom>
          <a:solidFill>
            <a:srgbClr val="FFEC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🔗 Native Microsoft Teams Integration - Available in Teams playground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C72"/>
            </a:gs>
            <a:gs pos="100000">
              <a:srgbClr val="667EE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unai-flow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4572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432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Enterprise-Grade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1A1A1A"/>
                </a:solidFill>
              </a:defRPr>
            </a:pPr>
            <a:r>
              <a:t>🧠 AI Layer</a:t>
            </a:r>
          </a:p>
          <a:p>
            <a:pPr algn="l">
              <a:defRPr sz="1200">
                <a:solidFill>
                  <a:srgbClr val="1A1A1A"/>
                </a:solidFill>
              </a:defRPr>
            </a:pPr>
            <a:r>
              <a:t>Groq AI: Ultra-fast LLM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18872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1A1A1A"/>
                </a:solidFill>
              </a:defRPr>
            </a:pPr>
            <a:r>
              <a:t>⚡ Backend</a:t>
            </a:r>
          </a:p>
          <a:p>
            <a:pPr algn="l">
              <a:defRPr sz="1200">
                <a:solidFill>
                  <a:srgbClr val="1A1A1A"/>
                </a:solidFill>
              </a:defRPr>
            </a:pPr>
            <a:r>
              <a:t>FastAPI: High-performance async 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18872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1A1A1A"/>
                </a:solidFill>
              </a:defRPr>
            </a:pPr>
            <a:r>
              <a:t>💾 Database</a:t>
            </a:r>
          </a:p>
          <a:p>
            <a:pPr algn="l">
              <a:defRPr sz="1200">
                <a:solidFill>
                  <a:srgbClr val="1A1A1A"/>
                </a:solidFill>
              </a:defRPr>
            </a:pPr>
            <a:r>
              <a:t>SQLite: Lightweight &amp; scalable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1188720"/>
            <a:ext cx="2194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1A1A1A"/>
                </a:solidFill>
              </a:defRPr>
            </a:pPr>
            <a:r>
              <a:t>🖥️ Frontend</a:t>
            </a:r>
          </a:p>
          <a:p>
            <a:pPr algn="l">
              <a:defRPr sz="1200">
                <a:solidFill>
                  <a:srgbClr val="1A1A1A"/>
                </a:solidFill>
              </a:defRPr>
            </a:pPr>
            <a:r>
              <a:t>Microsoft Teams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10360152" cy="1097280"/>
          </a:xfrm>
          <a:prstGeom prst="round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565C0"/>
                </a:solidFill>
              </a:defRPr>
            </a:pPr>
            <a:r>
              <a:t>🛡️ Security &amp; Compliance Framework</a:t>
            </a:r>
          </a:p>
          <a:p>
            <a:r>
              <a:t>Enterprise-grade security with GDPR compliance, SOC 2 readiness, comprehensive audit trails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C72"/>
            </a:gs>
            <a:gs pos="100000">
              <a:srgbClr val="667EE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Moments Intelligence Module 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743200" cy="182880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🎂 Birthdays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Automatic detection and team celebration coordination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188720"/>
            <a:ext cx="2743200" cy="182880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🚀 Promotions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Career milestone recognition and congratulations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188720"/>
            <a:ext cx="2743200" cy="182880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🏆 Achievements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Project completions and accomplishments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1188720"/>
            <a:ext cx="2194560" cy="182880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🎊 Celebrations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Work anniversaries and special occasions</a:t>
            </a:r>
          </a:p>
        </p:txBody>
      </p:sp>
      <p:pic>
        <p:nvPicPr>
          <p:cNvPr id="7" name="Picture 6" descr="Moments Screensh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5029200" cy="2286000"/>
          </a:xfrm>
          <a:prstGeom prst="rect">
            <a:avLst/>
          </a:prstGeom>
        </p:spPr>
      </p:pic>
      <p:pic>
        <p:nvPicPr>
          <p:cNvPr id="8" name="Picture 7" descr="Moments table db 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200400"/>
            <a:ext cx="5029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C72"/>
            </a:gs>
            <a:gs pos="100000">
              <a:srgbClr val="667EE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Enterprise Data Management &amp; API</a:t>
            </a:r>
          </a:p>
        </p:txBody>
      </p:sp>
      <p:pic>
        <p:nvPicPr>
          <p:cNvPr id="3" name="Picture 2" descr="User table DB 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029200" cy="2743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00800" y="1371600"/>
            <a:ext cx="50292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1A1A1A"/>
                </a:solidFill>
              </a:defRPr>
            </a:pPr>
            <a:r>
              <a:t>🔌 RESTful API Capabilities</a:t>
            </a:r>
          </a:p>
          <a:p>
            <a:pPr algn="l">
              <a:defRPr sz="1200">
                <a:solidFill>
                  <a:srgbClr val="1A1A1A"/>
                </a:solidFill>
              </a:defRPr>
            </a:pPr>
            <a:r>
              <a:t>• User Operations: Creation with consent tracking</a:t>
            </a:r>
            <a:br/>
            <a:r>
              <a:t>• Moment Management: Automated storage</a:t>
            </a:r>
            <a:br/>
            <a:r>
              <a:t>• Analytics &amp; Insights: Real-time dashboard</a:t>
            </a:r>
            <a:br/>
            <a:r>
              <a:t>• Swagger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572000"/>
            <a:ext cx="10360152" cy="914400"/>
          </a:xfrm>
          <a:prstGeom prst="round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565C0"/>
                </a:solidFill>
              </a:defRPr>
            </a:pPr>
            <a:r>
              <a:t>🔐 Consent Management: Comprehensive T&amp;C acceptance flags with full audit trails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C72"/>
            </a:gs>
            <a:gs pos="100000">
              <a:srgbClr val="667EE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WFO Prediction Intelligence 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743200" cy="1828800"/>
          </a:xfrm>
          <a:prstGeom prst="roundRect">
            <a:avLst/>
          </a:prstGeom>
          <a:solidFill>
            <a:srgbClr val="A8EDEA"/>
          </a:solidFill>
          <a:ln>
            <a:solidFill>
              <a:srgbClr val="A8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2D3748"/>
                </a:solidFill>
              </a:defRPr>
            </a:pPr>
            <a:r>
              <a:t>🕗 8 PM Smart Check-in</a:t>
            </a:r>
          </a:p>
          <a:p>
            <a:pPr algn="l">
              <a:defRPr sz="1200">
                <a:solidFill>
                  <a:srgbClr val="2D3748"/>
                </a:solidFill>
              </a:defRPr>
            </a:pPr>
            <a:r>
              <a:t>Intelligent timing based on user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188720"/>
            <a:ext cx="2743200" cy="1828800"/>
          </a:xfrm>
          <a:prstGeom prst="roundRect">
            <a:avLst/>
          </a:prstGeom>
          <a:solidFill>
            <a:srgbClr val="A8EDEA"/>
          </a:solidFill>
          <a:ln>
            <a:solidFill>
              <a:srgbClr val="A8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2D3748"/>
                </a:solidFill>
              </a:defRPr>
            </a:pPr>
            <a:r>
              <a:t>📋 Consent Collection</a:t>
            </a:r>
          </a:p>
          <a:p>
            <a:pPr algn="l">
              <a:defRPr sz="1200">
                <a:solidFill>
                  <a:srgbClr val="2D3748"/>
                </a:solidFill>
              </a:defRPr>
            </a:pPr>
            <a:r>
              <a:t>Transparent T&amp;C with clear data usage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188720"/>
            <a:ext cx="2743200" cy="1828800"/>
          </a:xfrm>
          <a:prstGeom prst="roundRect">
            <a:avLst/>
          </a:prstGeom>
          <a:solidFill>
            <a:srgbClr val="A8EDEA"/>
          </a:solidFill>
          <a:ln>
            <a:solidFill>
              <a:srgbClr val="A8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2D3748"/>
                </a:solidFill>
              </a:defRPr>
            </a:pPr>
            <a:r>
              <a:t>💭 Intent Capture</a:t>
            </a:r>
          </a:p>
          <a:p>
            <a:pPr algn="l">
              <a:defRPr sz="1200">
                <a:solidFill>
                  <a:srgbClr val="2D3748"/>
                </a:solidFill>
              </a:defRPr>
            </a:pPr>
            <a:r>
              <a:t>Natural conversation captures genuine intentions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1188720"/>
            <a:ext cx="2194560" cy="1828800"/>
          </a:xfrm>
          <a:prstGeom prst="roundRect">
            <a:avLst/>
          </a:prstGeom>
          <a:solidFill>
            <a:srgbClr val="A8EDEA"/>
          </a:solidFill>
          <a:ln>
            <a:solidFill>
              <a:srgbClr val="A8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2D3748"/>
                </a:solidFill>
              </a:defRPr>
            </a:pPr>
            <a:r>
              <a:t>📈 Predictive Analytics</a:t>
            </a:r>
          </a:p>
          <a:p>
            <a:pPr algn="l">
              <a:defRPr sz="1200">
                <a:solidFill>
                  <a:srgbClr val="2D3748"/>
                </a:solidFill>
              </a:defRPr>
            </a:pPr>
            <a:r>
              <a:t>Real patterns vs predictions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5486400" cy="2286000"/>
          </a:xfrm>
          <a:prstGeom prst="roundRect">
            <a:avLst/>
          </a:prstGeom>
          <a:solidFill>
            <a:srgbClr val="FFEC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/>
            </a:pPr>
            <a:r>
              <a:t>🎯 Why Our Approach Works</a:t>
            </a:r>
          </a:p>
          <a:p>
            <a:r>
              <a:t>• Direct Intent Collection: No algorithmic guesswork</a:t>
            </a:r>
          </a:p>
          <a:p>
            <a:r>
              <a:t>• Conversational Interface: Natural dialogue</a:t>
            </a:r>
          </a:p>
          <a:p>
            <a:r>
              <a:t>• Real User Data: Actual intentions</a:t>
            </a:r>
          </a:p>
          <a:p>
            <a:r>
              <a:t>• Privacy Compliance: Explicit consent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3200400"/>
            <a:ext cx="4572000" cy="22860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67EEA"/>
                </a:solidFill>
              </a:defRPr>
            </a:pPr>
            <a:r>
              <a:t>📊 Performance Metrics</a:t>
            </a:r>
          </a:p>
          <a:p>
            <a:r>
              <a:t>85% Response Rate</a:t>
            </a:r>
          </a:p>
          <a:p>
            <a:r>
              <a:t>92% Accuracy</a:t>
            </a:r>
          </a:p>
          <a:p>
            <a:r>
              <a:t>100% Consent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C72"/>
            </a:gs>
            <a:gs pos="100000">
              <a:srgbClr val="667EE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Extended Platform Capabilities 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743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1A1A1A"/>
                </a:solidFill>
              </a:defRPr>
            </a:pPr>
            <a:r>
              <a:t>🔥 Stories [Hot Now]</a:t>
            </a:r>
          </a:p>
          <a:p>
            <a:pPr algn="l">
              <a:defRPr sz="1200">
                <a:solidFill>
                  <a:srgbClr val="1A1A1A"/>
                </a:solidFill>
              </a:defRPr>
            </a:pPr>
            <a:r>
              <a:t>• OTT platform discussions</a:t>
            </a:r>
            <a:br/>
            <a:r>
              <a:t>• IPL polling</a:t>
            </a:r>
            <a:br/>
            <a:r>
              <a:t>• Chennai travel &amp; food</a:t>
            </a:r>
            <a:br/>
            <a:r>
              <a:t>• Trending topics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188720"/>
            <a:ext cx="2743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1A1A1A"/>
                </a:solidFill>
              </a:defRPr>
            </a:pPr>
            <a:r>
              <a:t>📅 Daily Wellness Quests</a:t>
            </a:r>
          </a:p>
          <a:p>
            <a:pPr algn="l">
              <a:defRPr sz="1200">
                <a:solidFill>
                  <a:srgbClr val="1A1A1A"/>
                </a:solidFill>
              </a:defRPr>
            </a:pPr>
            <a:r>
              <a:t>• Coffee break reminders</a:t>
            </a:r>
            <a:br/>
            <a:r>
              <a:t>• Stretch alerts</a:t>
            </a:r>
            <a:br/>
            <a:r>
              <a:t>• Social prompts</a:t>
            </a:r>
            <a:br/>
            <a:r>
              <a:t>• Mindfulness moments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188720"/>
            <a:ext cx="2743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1A1A1A"/>
                </a:solidFill>
              </a:defRPr>
            </a:pPr>
            <a:r>
              <a:t>🎊 Seasonal Engagement</a:t>
            </a:r>
          </a:p>
          <a:p>
            <a:pPr algn="l">
              <a:defRPr sz="1200">
                <a:solidFill>
                  <a:srgbClr val="1A1A1A"/>
                </a:solidFill>
              </a:defRPr>
            </a:pPr>
            <a:r>
              <a:t>• Team lunch coordination</a:t>
            </a:r>
            <a:br/>
            <a:r>
              <a:t>• Fun awards</a:t>
            </a:r>
            <a:br/>
            <a:r>
              <a:t>• DC activities</a:t>
            </a:r>
            <a:br/>
            <a:r>
              <a:t>• Holiday planning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1188720"/>
            <a:ext cx="2194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1A1A1A"/>
                </a:solidFill>
              </a:defRPr>
            </a:pPr>
            <a:r>
              <a:t>🔮 Future Roadmap</a:t>
            </a:r>
          </a:p>
          <a:p>
            <a:pPr algn="l">
              <a:defRPr sz="1200">
                <a:solidFill>
                  <a:srgbClr val="1A1A1A"/>
                </a:solidFill>
              </a:defRPr>
            </a:pPr>
            <a:r>
              <a:t>• Sentiment analysis</a:t>
            </a:r>
            <a:br/>
            <a:r>
              <a:t>• Emotional intelligence</a:t>
            </a:r>
            <a:br/>
            <a:r>
              <a:t>• Project monitoring</a:t>
            </a:r>
            <a:br/>
            <a:r>
              <a:t>• Team dynamics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74720"/>
            <a:ext cx="10360152" cy="914400"/>
          </a:xfrm>
          <a:prstGeom prst="round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565C0"/>
                </a:solidFill>
              </a:defRPr>
            </a:pPr>
            <a:r>
              <a:t>🛡️ Enterprise Admin Control: Account-specific coordinators with granular privacy controls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572000"/>
            <a:ext cx="10360152" cy="914400"/>
          </a:xfrm>
          <a:prstGeom prst="roundRect">
            <a:avLst/>
          </a:prstGeom>
          <a:solidFill>
            <a:srgbClr val="FFEC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🌟 Platform Scalability: Modular architecture supports unlimited feature expansion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C72"/>
            </a:gs>
            <a:gs pos="100000">
              <a:srgbClr val="667EE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Why A2M TechForce Leads the Market 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0152" cy="914400"/>
          </a:xfrm>
          <a:prstGeom prst="roundRect">
            <a:avLst/>
          </a:prstGeom>
          <a:solidFill>
            <a:srgbClr val="FFEC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🎯 Market Leadership: Most comprehensive use case coverage with unmatched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5486400" cy="274320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🔗 Agent Architecture Ecosystem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• Universal Integration: Any team app as Thunai agent</a:t>
            </a:r>
            <a:br/>
            <a:r>
              <a:t>• Unified Platform: Single bot, unlimited capabilities</a:t>
            </a:r>
            <a:br/>
            <a:r>
              <a:t>• Scalable Design: Plug-and-play modules</a:t>
            </a:r>
            <a:br/>
            <a:r>
              <a:t>• API-First Approach: Seamless integrations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286000"/>
            <a:ext cx="5486400" cy="274320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🚀 Real-World Applications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• Food Ordering: Vendor/menu lookup with learning</a:t>
            </a:r>
            <a:br/>
            <a:r>
              <a:t>• Smart Carpooling: Location-based matching</a:t>
            </a:r>
            <a:br/>
            <a:r>
              <a:t>• Parking Intelligence: Real-time availability</a:t>
            </a:r>
            <a:br/>
            <a:r>
              <a:t>• Privacy Compliant: All integrations follow T&amp;C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56C79A-5030-848A-5017-3ACC6156F92D}"/>
              </a:ext>
            </a:extLst>
          </p:cNvPr>
          <p:cNvSpPr/>
          <p:nvPr/>
        </p:nvSpPr>
        <p:spPr>
          <a:xfrm>
            <a:off x="4390579" y="5185835"/>
            <a:ext cx="36471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569DD6-9B93-7EDA-AD97-F46F3B016C17}"/>
              </a:ext>
            </a:extLst>
          </p:cNvPr>
          <p:cNvSpPr/>
          <p:nvPr/>
        </p:nvSpPr>
        <p:spPr>
          <a:xfrm>
            <a:off x="442067" y="779306"/>
            <a:ext cx="10791990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i="1" dirty="0">
                <a:solidFill>
                  <a:schemeClr val="accent2">
                    <a:lumMod val="50000"/>
                  </a:schemeClr>
                </a:solidFill>
              </a:rPr>
              <a:t>If AI can be more AI, </a:t>
            </a:r>
          </a:p>
          <a:p>
            <a:pPr algn="ctr"/>
            <a:r>
              <a:rPr lang="en-US" sz="3600" i="1" dirty="0">
                <a:solidFill>
                  <a:schemeClr val="accent2">
                    <a:lumMod val="50000"/>
                  </a:schemeClr>
                </a:solidFill>
              </a:rPr>
              <a:t>humans can be more human by staying connected.</a:t>
            </a:r>
          </a:p>
          <a:p>
            <a:pPr algn="ctr"/>
            <a:endParaRPr lang="en-US" sz="3600" i="1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r>
              <a:rPr lang="en-US" sz="3600" i="1" dirty="0">
                <a:solidFill>
                  <a:schemeClr val="accent2">
                    <a:lumMod val="50000"/>
                  </a:schemeClr>
                </a:solidFill>
              </a:rPr>
              <a:t> Anything is possible when we value each other. </a:t>
            </a:r>
          </a:p>
          <a:p>
            <a:pPr algn="ctr"/>
            <a:r>
              <a:rPr lang="en-US" sz="3600" i="1" dirty="0">
                <a:solidFill>
                  <a:schemeClr val="accent2">
                    <a:lumMod val="50000"/>
                  </a:schemeClr>
                </a:solidFill>
              </a:rPr>
              <a:t>In this AI wave, let's embrace the chaos and leverage</a:t>
            </a:r>
          </a:p>
          <a:p>
            <a:pPr algn="ctr"/>
            <a:r>
              <a:rPr lang="en-US" sz="3600" i="1" dirty="0">
                <a:solidFill>
                  <a:schemeClr val="accent2">
                    <a:lumMod val="50000"/>
                  </a:schemeClr>
                </a:solidFill>
              </a:rPr>
              <a:t> AI to create more for humanity.</a:t>
            </a:r>
          </a:p>
          <a:p>
            <a:pPr algn="ctr"/>
            <a:endParaRPr lang="en-US" sz="2400" b="1" i="1" cap="none" spc="0" dirty="0">
              <a:ln w="12700" cmpd="sng">
                <a:solidFill>
                  <a:schemeClr val="accent4"/>
                </a:solidFill>
                <a:prstDash val="solid"/>
              </a:ln>
              <a:solidFill>
                <a:schemeClr val="accent6">
                  <a:lumMod val="5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10888036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52</TotalTime>
  <Words>648</Words>
  <Application>Microsoft Office PowerPoint</Application>
  <PresentationFormat>Custom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Corbel</vt:lpstr>
      <vt:lpstr>Basis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Muthu Aravindan</cp:lastModifiedBy>
  <cp:revision>2</cp:revision>
  <dcterms:created xsi:type="dcterms:W3CDTF">2013-01-27T09:14:16Z</dcterms:created>
  <dcterms:modified xsi:type="dcterms:W3CDTF">2025-11-06T05:08:43Z</dcterms:modified>
  <cp:category/>
</cp:coreProperties>
</file>